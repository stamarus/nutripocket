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AUDITORIA HIGIÊNICO-SANITÁRIA &amp;</a:t>
            </a:r>
            <a:br/>
            <a:r>
              <a:t>EXCELÊNCIA EM UNIDADES DE ALIMENTAÇÃO</a:t>
            </a:r>
          </a:p>
          <a:p>
            <a:pPr>
              <a:defRPr sz="2000">
                <a:solidFill>
                  <a:srgbClr val="D97706"/>
                </a:solidFill>
              </a:defRPr>
            </a:pPr>
            <a:r>
              <a:t>Da RDC 216 e Portaria CVS 5/SP ao Padrão Ouro 3 Estrelas Michelin</a:t>
            </a:r>
          </a:p>
          <a:p>
            <a:br/>
            <a:pPr>
              <a:defRPr sz="1400">
                <a:solidFill>
                  <a:srgbClr val="64748B"/>
                </a:solidFill>
              </a:defRPr>
            </a:pPr>
            <a:r>
              <a:t>Curso de Graduação em Nutrição • Apresentação Acadêmica &amp; Prática Profissional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1. MARCO REGULATÓRIO HIGIÊNICO-SANITÁRIO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Base Legal Federal, Estadual (SP) e Municipal (São Paulo)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ÂMBITO FEDERAL</a:t>
            </a:r>
            <a:br/>
            <a:r>
              <a:t>RDC nº 216/2004 (ANVISA)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Regulamento Técnico de Boas Práticas para Serviços de Alimentação em todo o Brasil.</a:t>
            </a:r>
            <a:br/>
            <a:r>
              <a:t>• Foco em controle de contaminantes físicos, químicos e biológicos.</a:t>
            </a:r>
            <a:br/>
            <a:r>
              <a:t>• Exigência do Manual de Boas Práticas (MBP) e 6 POPs obrigatórios.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6459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ÂMBITO ESTADUAL (SP)</a:t>
            </a:r>
            <a:br/>
            <a:r>
              <a:t>Portaria CVS nº 5/2013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Centro de Vigilância Sanitária de SP.</a:t>
            </a:r>
            <a:br/>
            <a:r>
              <a:t>• Estabelece parâmetros térmicos ultra-rigorosos para o Estado de SP.</a:t>
            </a:r>
            <a:br/>
            <a:r>
              <a:t>• Critério de resfriamento rápido: 60°C para 10°C em até 2 horas.</a:t>
            </a:r>
            <a:br/>
            <a:r>
              <a:t>• Regras estritas de transporte e distribuição.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645920"/>
            <a:ext cx="32004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74320"/>
          <a:lstStyle/>
          <a:p>
            <a:pPr algn="ctr">
              <a:defRPr b="1" sz="1600">
                <a:solidFill>
                  <a:srgbClr val="0F172A"/>
                </a:solidFill>
              </a:defRPr>
            </a:pPr>
            <a:r>
              <a:t>MUNICÍPIO DE SÃO PAULO</a:t>
            </a:r>
            <a:br/>
            <a:r>
              <a:t>Portaria SMS nº 2619/2011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Secretaria Municipal de Saúde de SP.</a:t>
            </a:r>
            <a:br/>
            <a:r>
              <a:t>• Uma das legislações sanitárias mais exigentes da América Latina.</a:t>
            </a:r>
            <a:br/>
            <a:r>
              <a:t>• Guarda obrigatória de amostras por 72h.</a:t>
            </a:r>
            <a:br/>
            <a:r>
              <a:t>• Rotulagem e rastreabilidade rigorosa de fracionados pós-abertura.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2. O BENCHMARKING DE EXCELÊNCIA: 3 ESTRELAS MICHELIN &amp; LUXO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O que os melhores do mundo fazem além da vigilância sanitária comum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b="1" sz="1400">
                <a:solidFill>
                  <a:srgbClr val="0F172A"/>
                </a:solidFill>
              </a:defRPr>
            </a:pPr>
            <a:r>
              <a:t>★ Segregação Molecular de Alérgenos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Codificação cromática de facas e tábuas (vermelho=carnes, azul=peixe, verde=vegetais, branco=laticínios). Estações separadas para glúten e frutos do mar com lavagem intermediária controlada.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37744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b="1" sz="1400">
                <a:solidFill>
                  <a:srgbClr val="0F172A"/>
                </a:solidFill>
              </a:defRPr>
            </a:pPr>
            <a:r>
              <a:t>★ Abatedor Criogênico &amp; Cadeia Fria Ininterrupta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Uso de Blast Chillers que resfriam preparações a -40°C em minutos. Termômetros termopares calibrados por lote. Nenhum alimento fica na 'zona de perigo' (5°C a 60°C).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8328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b="1" sz="1400">
                <a:solidFill>
                  <a:srgbClr val="0F172A"/>
                </a:solidFill>
              </a:defRPr>
            </a:pPr>
            <a:r>
              <a:t>★ Precisão Térmica em Sous-Vide (Cocção a Vácuo)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Selagem a vácuo com registro de pressão em mbar e controle milimétrico de banho-maria termocirculador (Roner). Registro preventivo contra Clostridium botulinum.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b="1" sz="1400">
                <a:solidFill>
                  <a:srgbClr val="0F172A"/>
                </a:solidFill>
              </a:defRPr>
            </a:pPr>
            <a:r>
              <a:t>★ Rastreabilidade Absoluta Farm-to-Table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Controle de procedência direto do produtor orgânico/familiar. Cada insumo possui registro de lote, hora de colheita e temperatura de transporte até o mise-en-place.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394960"/>
            <a:ext cx="10362895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b="1" sz="1400">
                <a:solidFill>
                  <a:srgbClr val="0F172A"/>
                </a:solidFill>
              </a:defRPr>
            </a:pPr>
            <a:r>
              <a:t>★ Auditoria Contínua &amp; Cultura 'Zero Compromise'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Auditorias diárias conduzidas pela nutricionista chefe antes de cada serviço. Descarte preventivo se qualquer parâmetro sensorial ou térmico desviar do padrão.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3. ESTRUTURA DO CHECKLIST DE AUDITORIA OPERACIONAL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Os 9 Pilares Inegociáveis inspecionados em campo pelo 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1. Edificação &amp; Fluxo Linear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Sem cruzamento de cru x cozido; rodapés côncavos; pias com pedal.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37160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2. Água &amp; Esgotamento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Limpeza semestral de caixa d'água com laudo; caixa de gordura externa.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3. Controle de Pragas (CIP)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Empresa licenciada; mapa de iscas numeradas; barreira física e ralos sifonados.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6324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4. Recebimento &amp; Insumos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Critérios de aceite térmico (pescado &lt;= 2°C; carnes &lt;= 7°C); SIF/SISP.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306324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5. Armazenamento &amp; PVPS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Etiquetagem completa; Primeiro que Vence, Primeiro que Sai; câmaras 0°C a 4°C.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06324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6. Cocção &amp; Resfriamento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Cocção &gt; 70°C no centro geométrico; resfriamento rápido em menos de 2h.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75488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7. Higienização Hortifruti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Lavagem mecânica -&gt; Imersão clorada 100-250 ppm por 15 min -&gt; Enxágue.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475488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8. Manipuladores &amp; ASO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Uniformes claros e íntegros; zero adornos; ASO e exames parasitológicos válidos.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754880"/>
            <a:ext cx="32918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>
              <a:defRPr b="1" sz="1300">
                <a:solidFill>
                  <a:srgbClr val="0F172A"/>
                </a:solidFill>
              </a:defRPr>
            </a:pPr>
            <a:r>
              <a:t>9. Documentação &amp; Amostras</a:t>
            </a:r>
          </a:p>
          <a:p>
            <a:br/>
            <a:pPr>
              <a:defRPr sz="1050">
                <a:solidFill>
                  <a:srgbClr val="64748B"/>
                </a:solidFill>
              </a:defRPr>
            </a:pPr>
            <a:r>
              <a:t>MBP e 6 POPs atualizados; guarda de amostras de 100g por 72h obrigatória em SP.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 tIns="18288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4. DIGITALIZAÇÃO DA AUDITORIA // NUTRIPOCKET AUDIT ENGINE</a:t>
            </a:r>
          </a:p>
          <a:p>
            <a:pPr>
              <a:defRPr sz="1200">
                <a:solidFill>
                  <a:srgbClr val="D97706"/>
                </a:solidFill>
              </a:defRPr>
            </a:pPr>
            <a:r>
              <a:t>Transformando pranchetas de papel em inteligência em tempo real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10362895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/>
          </a:p>
          <a:p>
            <a:br/>
            <a:pPr>
              <a:defRPr b="1" sz="1400">
                <a:solidFill>
                  <a:srgbClr val="0F172A"/>
                </a:solidFill>
              </a:defRPr>
            </a:pPr>
            <a:r>
              <a:t>✔ 📱 Checklist Mobile-First no NutriPocket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O nutricionista audita a cozinha direto pelo celular ou tablet, marcando Conforme (C), Não Conforme (NC) e Não Aplicável (NA) com cálculo automático da Nota Sanitária.</a:t>
            </a:r>
          </a:p>
          <a:p>
            <a:br/>
            <a:pPr>
              <a:defRPr b="1" sz="1400">
                <a:solidFill>
                  <a:srgbClr val="0F172A"/>
                </a:solidFill>
              </a:defRPr>
            </a:pPr>
            <a:r>
              <a:t>✔ 📸 Registro Fotográfico Integrado (Google Drive Cloud)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Tirada de fotos de não-conformidades (ex: temperatura fora da faixa, alimento sem etiqueta) diretamente pelo app, com upload em nuvem e organização por setor da cozinha.</a:t>
            </a:r>
          </a:p>
          <a:p>
            <a:br/>
            <a:pPr>
              <a:defRPr b="1" sz="1400">
                <a:solidFill>
                  <a:srgbClr val="0F172A"/>
                </a:solidFill>
              </a:defRPr>
            </a:pPr>
            <a:r>
              <a:t>✔ 📄 Relatório Executivo Instantâneo em PDF / Compartilhamento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Geração de relatório imediato com gráfico radar dos 9 pilares e plano de ação corretiva para o proprietário ou chef assinar na hora.</a:t>
            </a:r>
          </a:p>
          <a:p>
            <a:br/>
            <a:pPr>
              <a:defRPr b="1" sz="1400">
                <a:solidFill>
                  <a:srgbClr val="0F172A"/>
                </a:solidFill>
              </a:defRPr>
            </a:pPr>
            <a:r>
              <a:t>✔ 📊 Histórico &amp; Dashboard de Conformidade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Acompanhamento da evolução sanitária ao longo das semanas, prevenindo multas e interdições da Vigilância Sanitária.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