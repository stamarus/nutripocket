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15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8901283" cy="20621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AUDITORIA HIGIÊNICO-SANITÁRIA &amp;</a:t>
            </a:r>
            <a:br>
              <a:rPr dirty="0"/>
            </a:br>
            <a:r>
              <a:rPr dirty="0"/>
              <a:t>EXCELÊNCIA EM UNIDADES DE ALIMENTAÇÃO</a:t>
            </a:r>
          </a:p>
          <a:p>
            <a:pPr>
              <a:defRPr sz="2000">
                <a:solidFill>
                  <a:srgbClr val="D97706"/>
                </a:solidFill>
              </a:defRPr>
            </a:pPr>
            <a:r>
              <a:rPr dirty="0"/>
              <a:t>Da RDC 216 e </a:t>
            </a:r>
            <a:r>
              <a:rPr dirty="0" err="1"/>
              <a:t>Portaria</a:t>
            </a:r>
            <a:r>
              <a:rPr dirty="0"/>
              <a:t> CVS 5/SP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Padrão</a:t>
            </a:r>
            <a:r>
              <a:rPr dirty="0"/>
              <a:t> Ouro 3 </a:t>
            </a:r>
            <a:r>
              <a:rPr dirty="0" err="1"/>
              <a:t>Estrelas</a:t>
            </a:r>
            <a:r>
              <a:rPr dirty="0"/>
              <a:t> Michelin</a:t>
            </a:r>
          </a:p>
          <a:p>
            <a:br>
              <a:rPr dirty="0"/>
            </a:br>
            <a:r>
              <a:rPr dirty="0" err="1">
                <a:solidFill>
                  <a:schemeClr val="bg1"/>
                </a:solidFill>
              </a:rPr>
              <a:t>Curso</a:t>
            </a:r>
            <a:r>
              <a:rPr dirty="0">
                <a:solidFill>
                  <a:schemeClr val="bg1"/>
                </a:solidFill>
              </a:rPr>
              <a:t> de </a:t>
            </a:r>
            <a:r>
              <a:rPr dirty="0" err="1">
                <a:solidFill>
                  <a:schemeClr val="bg1"/>
                </a:solidFill>
              </a:rPr>
              <a:t>Graduação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em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Nutrição</a:t>
            </a:r>
            <a:r>
              <a:rPr dirty="0">
                <a:solidFill>
                  <a:schemeClr val="bg1"/>
                </a:solidFill>
              </a:rPr>
              <a:t> • </a:t>
            </a:r>
            <a:r>
              <a:rPr dirty="0" err="1">
                <a:solidFill>
                  <a:schemeClr val="bg1"/>
                </a:solidFill>
              </a:rPr>
              <a:t>Apresentação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Acadêmica</a:t>
            </a:r>
            <a:r>
              <a:rPr dirty="0">
                <a:solidFill>
                  <a:schemeClr val="bg1"/>
                </a:solidFill>
              </a:rPr>
              <a:t> &amp; </a:t>
            </a:r>
            <a:r>
              <a:rPr dirty="0" err="1">
                <a:solidFill>
                  <a:schemeClr val="bg1"/>
                </a:solidFill>
              </a:rPr>
              <a:t>Prática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Profissional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0" tIns="182880"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1. MARCO REGULATÓRIO HIGIÊNICO-SANITÁRIO</a:t>
            </a:r>
          </a:p>
          <a:p>
            <a:pPr>
              <a:defRPr sz="1200">
                <a:solidFill>
                  <a:srgbClr val="D97706"/>
                </a:solidFill>
              </a:defRPr>
            </a:pPr>
            <a:r>
              <a:t>Base Legal Federal, Estadual (SP) e Municipal (São Paulo)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32004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Ins="274320"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ÂMBITO FEDERAL</a:t>
            </a:r>
            <a:br/>
            <a:r>
              <a:t>RDC nº 216/2004 (ANVISA)</a:t>
            </a:r>
          </a:p>
          <a:p>
            <a:br/>
            <a:r>
              <a:t>• Regulamento Técnico de Boas Práticas para Serviços de Alimentação em todo o Brasil.</a:t>
            </a:r>
            <a:br/>
            <a:r>
              <a:t>• Foco em controle de contaminantes físicos, químicos e biológicos.</a:t>
            </a:r>
            <a:br/>
            <a:r>
              <a:t>• Exigência do Manual de Boas Práticas (MBP) e 6 POPs obrigatórios.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1645920"/>
            <a:ext cx="32004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Ins="274320"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ÂMBITO ESTADUAL (SP)</a:t>
            </a:r>
            <a:br/>
            <a:r>
              <a:t>Portaria CVS nº 5/2013</a:t>
            </a:r>
          </a:p>
          <a:p>
            <a:br/>
            <a:r>
              <a:t>• Centro de Vigilância Sanitária de SP.</a:t>
            </a:r>
            <a:br/>
            <a:r>
              <a:t>• Estabelece parâmetros térmicos ultra-rigorosos para o Estado de SP.</a:t>
            </a:r>
            <a:br/>
            <a:r>
              <a:t>• Critério de resfriamento rápido: 60°C para 10°C em até 2 horas.</a:t>
            </a:r>
            <a:br/>
            <a:r>
              <a:t>• Regras estritas de transporte e distribuição.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2004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Ins="274320"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MUNICÍPIO DE SÃO PAULO</a:t>
            </a:r>
            <a:br/>
            <a:r>
              <a:t>Portaria SMS nº 2619/2011</a:t>
            </a:r>
          </a:p>
          <a:p>
            <a:br/>
            <a:r>
              <a:t>• Secretaria Municipal de Saúde de SP.</a:t>
            </a:r>
            <a:br/>
            <a:r>
              <a:t>• Uma das legislações sanitárias mais exigentes da América Latina.</a:t>
            </a:r>
            <a:br/>
            <a:r>
              <a:t>• Guarda obrigatória de amostras por 72h.</a:t>
            </a:r>
            <a:br/>
            <a:r>
              <a:t>• Rotulagem e rastreabilidade rigorosa de fracionados pós-abertura.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0" tIns="182880"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2. O BENCHMARKING DE EXCELÊNCIA: 3 ESTRELAS MICHELIN &amp; LUXO</a:t>
            </a:r>
          </a:p>
          <a:p>
            <a:pPr>
              <a:defRPr sz="1200">
                <a:solidFill>
                  <a:srgbClr val="D97706"/>
                </a:solidFill>
              </a:defRPr>
            </a:pPr>
            <a:r>
              <a:t>O que os melhores do mundo fazem além da vigilância sanitária comum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★ Segregação Molecular de Alérgenos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Codificação cromática de facas e tábuas (vermelho=carnes, azul=peixe, verde=vegetais, branco=laticínios). Estações separadas para glúten e frutos do mar com lavagem intermediária controlada.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377440"/>
            <a:ext cx="1036289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★ Abatedor Criogênico &amp; Cadeia Fria Ininterrupta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Uso de Blast Chillers que resfriam preparações a -40°C em minutos. Termômetros termopares calibrados por lote. Nenhum alimento fica na 'zona de perigo' (5°C a 60°C).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383280"/>
            <a:ext cx="1036289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★ Precisão Térmica em Sous-Vide (Cocção a Vácuo)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Selagem a vácuo com registro de pressão em mbar e controle milimétrico de banho-maria termocirculador (Roner). Registro preventivo contra Clostridium botulinum.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389120"/>
            <a:ext cx="1036289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★ Rastreabilidade Absoluta Farm-to-Table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Controle de procedência direto do produtor orgânico/familiar. Cada insumo possui registro de lote, hora de colheita e temperatura de transporte até o mise-en-place.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394960"/>
            <a:ext cx="1036289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★ Auditoria Contínua &amp; Cultura 'Zero Compromise'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Auditorias diárias conduzidas pela nutricionista chefe antes de cada serviço. Descarte preventivo se qualquer parâmetro sensorial ou térmico desviar do padrão.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0" tIns="182880"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3. ESTRUTURA DO CHECKLIST DE AUDITORIA OPERACIONAL</a:t>
            </a:r>
          </a:p>
          <a:p>
            <a:pPr>
              <a:defRPr sz="1200">
                <a:solidFill>
                  <a:srgbClr val="D97706"/>
                </a:solidFill>
              </a:defRPr>
            </a:pPr>
            <a:r>
              <a:t>Os 9 Pilares Inegociáveis inspecionados em campo pelo 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32918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1. Edificação &amp; Fluxo Linear</a:t>
            </a:r>
          </a:p>
          <a:p>
            <a:br/>
            <a:r>
              <a:t>Sem cruzamento de cru x cozido; rodapés côncavos; pias com pedal.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1371600"/>
            <a:ext cx="32918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2. Água &amp; Esgotamento</a:t>
            </a:r>
          </a:p>
          <a:p>
            <a:br/>
            <a:r>
              <a:t>Limpeza semestral de caixa d'água com laudo; caixa de gordura externa.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2918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3. Controle de Pragas (CIP)</a:t>
            </a:r>
          </a:p>
          <a:p>
            <a:br/>
            <a:r>
              <a:t>Empresa licenciada; mapa de iscas numeradas; barreira física e ralos sifonados.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063240"/>
            <a:ext cx="32918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4. Recebimento &amp; Insumos</a:t>
            </a:r>
          </a:p>
          <a:p>
            <a:br/>
            <a:r>
              <a:t>Critérios de aceite térmico (pescado &lt;= 2°C; carnes &lt;= 7°C); SIF/SISP.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3063240"/>
            <a:ext cx="32918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5. Armazenamento &amp; PVPS</a:t>
            </a:r>
          </a:p>
          <a:p>
            <a:br/>
            <a:r>
              <a:t>Etiquetagem completa; Primeiro que Vence, Primeiro que Sai; câmaras 0°C a 4°C.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063240"/>
            <a:ext cx="32918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6. Cocção &amp; Resfriamento</a:t>
            </a:r>
          </a:p>
          <a:p>
            <a:br/>
            <a:r>
              <a:t>Cocção &gt; 70°C no centro geométrico; resfriamento rápido em menos de 2h.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754880"/>
            <a:ext cx="32918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7. Higienização Hortifruti</a:t>
            </a:r>
          </a:p>
          <a:p>
            <a:br/>
            <a:r>
              <a:t>Lavagem mecânica -&gt; Imersão clorada 100-250 ppm por 15 min -&gt; Enxágue.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4754880"/>
            <a:ext cx="32918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8. Manipuladores &amp; ASO</a:t>
            </a:r>
          </a:p>
          <a:p>
            <a:br/>
            <a:r>
              <a:t>Uniformes claros e íntegros; zero adornos; ASO e exames parasitológicos válidos.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4754880"/>
            <a:ext cx="32918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9. Documentação &amp; Amostras</a:t>
            </a:r>
          </a:p>
          <a:p>
            <a:br/>
            <a:r>
              <a:t>MBP e 6 POPs atualizados; guarda de amostras de 100g por 72h obrigatória em SP.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0" tIns="182880"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rPr dirty="0"/>
              <a:t>4. DIGITALIZAÇÃO DA AUDITORIA // NUTRIPOCKET AUDIT ENGINE</a:t>
            </a:r>
          </a:p>
          <a:p>
            <a:pPr>
              <a:defRPr sz="1200">
                <a:solidFill>
                  <a:srgbClr val="D97706"/>
                </a:solidFill>
              </a:defRPr>
            </a:pPr>
            <a:r>
              <a:rPr dirty="0" err="1"/>
              <a:t>Transformando</a:t>
            </a:r>
            <a:r>
              <a:rPr dirty="0"/>
              <a:t> </a:t>
            </a:r>
            <a:r>
              <a:rPr dirty="0" err="1"/>
              <a:t>pranchetas</a:t>
            </a:r>
            <a:r>
              <a:rPr dirty="0"/>
              <a:t> de </a:t>
            </a:r>
            <a:r>
              <a:rPr dirty="0" err="1"/>
              <a:t>papel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inteligência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tempo real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1036289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pPr algn="ctr"/>
            <a:endParaRPr dirty="0"/>
          </a:p>
          <a:p>
            <a:br>
              <a:rPr dirty="0"/>
            </a:br>
            <a:r>
              <a:rPr dirty="0"/>
              <a:t>✔ 📱 Checklist Mobile-First no </a:t>
            </a:r>
            <a:r>
              <a:rPr dirty="0" err="1"/>
              <a:t>NutriPocket</a:t>
            </a:r>
            <a:endParaRPr dirty="0"/>
          </a:p>
          <a:p>
            <a:pPr>
              <a:defRPr sz="1200">
                <a:solidFill>
                  <a:srgbClr val="64748B"/>
                </a:solidFill>
              </a:defRPr>
            </a:pPr>
            <a:r>
              <a:rPr dirty="0"/>
              <a:t>   O </a:t>
            </a:r>
            <a:r>
              <a:rPr dirty="0" err="1"/>
              <a:t>nutricionista</a:t>
            </a:r>
            <a:r>
              <a:rPr dirty="0"/>
              <a:t> </a:t>
            </a:r>
            <a:r>
              <a:rPr dirty="0" err="1"/>
              <a:t>audita</a:t>
            </a:r>
            <a:r>
              <a:rPr dirty="0"/>
              <a:t> a </a:t>
            </a:r>
            <a:r>
              <a:rPr dirty="0" err="1"/>
              <a:t>cozinha</a:t>
            </a:r>
            <a:r>
              <a:rPr dirty="0"/>
              <a:t> </a:t>
            </a:r>
            <a:r>
              <a:rPr dirty="0" err="1"/>
              <a:t>direto</a:t>
            </a:r>
            <a:r>
              <a:rPr dirty="0"/>
              <a:t> </a:t>
            </a:r>
            <a:r>
              <a:rPr dirty="0" err="1"/>
              <a:t>pelo</a:t>
            </a:r>
            <a:r>
              <a:rPr dirty="0"/>
              <a:t> </a:t>
            </a:r>
            <a:r>
              <a:rPr dirty="0" err="1"/>
              <a:t>celular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tablet, </a:t>
            </a:r>
            <a:r>
              <a:rPr dirty="0" err="1"/>
              <a:t>marcando</a:t>
            </a:r>
            <a:r>
              <a:rPr dirty="0"/>
              <a:t> Conforme (C), </a:t>
            </a:r>
            <a:r>
              <a:rPr dirty="0" err="1"/>
              <a:t>Não</a:t>
            </a:r>
            <a:r>
              <a:rPr dirty="0"/>
              <a:t> Conforme (NC) e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Aplicável</a:t>
            </a:r>
            <a:r>
              <a:rPr dirty="0"/>
              <a:t> (NA) com </a:t>
            </a:r>
            <a:r>
              <a:rPr dirty="0" err="1"/>
              <a:t>cálculo</a:t>
            </a:r>
            <a:r>
              <a:rPr dirty="0"/>
              <a:t> </a:t>
            </a:r>
            <a:r>
              <a:rPr dirty="0" err="1"/>
              <a:t>automático</a:t>
            </a:r>
            <a:r>
              <a:rPr dirty="0"/>
              <a:t> da Nota </a:t>
            </a:r>
            <a:r>
              <a:rPr dirty="0" err="1"/>
              <a:t>Sanitária</a:t>
            </a:r>
            <a:r>
              <a:rPr dirty="0"/>
              <a:t>.</a:t>
            </a:r>
          </a:p>
          <a:p>
            <a:br>
              <a:rPr dirty="0"/>
            </a:br>
            <a:r>
              <a:rPr dirty="0"/>
              <a:t>✔ 📸 Registro </a:t>
            </a:r>
            <a:r>
              <a:rPr dirty="0" err="1"/>
              <a:t>Fotográfico</a:t>
            </a:r>
            <a:r>
              <a:rPr dirty="0"/>
              <a:t> </a:t>
            </a:r>
            <a:r>
              <a:rPr dirty="0" err="1"/>
              <a:t>Integrado</a:t>
            </a:r>
            <a:r>
              <a:rPr dirty="0"/>
              <a:t> (Google Drive Cloud)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rPr dirty="0"/>
              <a:t>   </a:t>
            </a:r>
            <a:r>
              <a:rPr dirty="0" err="1"/>
              <a:t>Tirada</a:t>
            </a:r>
            <a:r>
              <a:rPr dirty="0"/>
              <a:t> de </a:t>
            </a:r>
            <a:r>
              <a:rPr dirty="0" err="1"/>
              <a:t>fotos</a:t>
            </a:r>
            <a:r>
              <a:rPr dirty="0"/>
              <a:t> de </a:t>
            </a:r>
            <a:r>
              <a:rPr dirty="0" err="1"/>
              <a:t>não-conformidades</a:t>
            </a:r>
            <a:r>
              <a:rPr dirty="0"/>
              <a:t> (ex: </a:t>
            </a:r>
            <a:r>
              <a:rPr dirty="0" err="1"/>
              <a:t>temperatura</a:t>
            </a:r>
            <a:r>
              <a:rPr dirty="0"/>
              <a:t> fora da </a:t>
            </a:r>
            <a:r>
              <a:rPr dirty="0" err="1"/>
              <a:t>faixa</a:t>
            </a:r>
            <a:r>
              <a:rPr dirty="0"/>
              <a:t>, </a:t>
            </a:r>
            <a:r>
              <a:rPr dirty="0" err="1"/>
              <a:t>alimento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etiqueta</a:t>
            </a:r>
            <a:r>
              <a:rPr dirty="0"/>
              <a:t>) </a:t>
            </a:r>
            <a:r>
              <a:rPr dirty="0" err="1"/>
              <a:t>diretamente</a:t>
            </a:r>
            <a:r>
              <a:rPr dirty="0"/>
              <a:t> </a:t>
            </a:r>
            <a:r>
              <a:rPr dirty="0" err="1"/>
              <a:t>pelo</a:t>
            </a:r>
            <a:r>
              <a:rPr dirty="0"/>
              <a:t> app, com upload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nuvem</a:t>
            </a:r>
            <a:r>
              <a:rPr dirty="0"/>
              <a:t> e </a:t>
            </a:r>
            <a:r>
              <a:rPr dirty="0" err="1"/>
              <a:t>organização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setor</a:t>
            </a:r>
            <a:r>
              <a:rPr dirty="0"/>
              <a:t> da </a:t>
            </a:r>
            <a:r>
              <a:rPr dirty="0" err="1"/>
              <a:t>cozinha</a:t>
            </a:r>
            <a:r>
              <a:rPr dirty="0"/>
              <a:t>.</a:t>
            </a:r>
          </a:p>
          <a:p>
            <a:br>
              <a:rPr dirty="0"/>
            </a:br>
            <a:r>
              <a:rPr dirty="0"/>
              <a:t>✔ 📄 </a:t>
            </a:r>
            <a:r>
              <a:rPr dirty="0" err="1"/>
              <a:t>Relatório</a:t>
            </a:r>
            <a:r>
              <a:rPr dirty="0"/>
              <a:t> </a:t>
            </a:r>
            <a:r>
              <a:rPr dirty="0" err="1"/>
              <a:t>Executivo</a:t>
            </a:r>
            <a:r>
              <a:rPr dirty="0"/>
              <a:t> </a:t>
            </a:r>
            <a:r>
              <a:rPr dirty="0" err="1"/>
              <a:t>Instantâneo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PDF / </a:t>
            </a:r>
            <a:r>
              <a:rPr dirty="0" err="1"/>
              <a:t>Compartilhamento</a:t>
            </a:r>
            <a:endParaRPr dirty="0"/>
          </a:p>
          <a:p>
            <a:pPr>
              <a:defRPr sz="1200">
                <a:solidFill>
                  <a:srgbClr val="64748B"/>
                </a:solidFill>
              </a:defRPr>
            </a:pPr>
            <a:r>
              <a:rPr dirty="0"/>
              <a:t>   </a:t>
            </a:r>
            <a:r>
              <a:rPr dirty="0" err="1"/>
              <a:t>Geração</a:t>
            </a:r>
            <a:r>
              <a:rPr dirty="0"/>
              <a:t> de </a:t>
            </a:r>
            <a:r>
              <a:rPr dirty="0" err="1"/>
              <a:t>relatório</a:t>
            </a:r>
            <a:r>
              <a:rPr dirty="0"/>
              <a:t> </a:t>
            </a:r>
            <a:r>
              <a:rPr dirty="0" err="1"/>
              <a:t>imediato</a:t>
            </a:r>
            <a:r>
              <a:rPr dirty="0"/>
              <a:t> com </a:t>
            </a:r>
            <a:r>
              <a:rPr dirty="0" err="1"/>
              <a:t>gráfico</a:t>
            </a:r>
            <a:r>
              <a:rPr dirty="0"/>
              <a:t> radar dos 9 </a:t>
            </a:r>
            <a:r>
              <a:rPr dirty="0" err="1"/>
              <a:t>pilares</a:t>
            </a:r>
            <a:r>
              <a:rPr dirty="0"/>
              <a:t> e plano de </a:t>
            </a:r>
            <a:r>
              <a:rPr dirty="0" err="1"/>
              <a:t>ação</a:t>
            </a:r>
            <a:r>
              <a:rPr dirty="0"/>
              <a:t> </a:t>
            </a:r>
            <a:r>
              <a:rPr dirty="0" err="1"/>
              <a:t>corretiva</a:t>
            </a:r>
            <a:r>
              <a:rPr dirty="0"/>
              <a:t> para o </a:t>
            </a:r>
            <a:r>
              <a:rPr dirty="0" err="1"/>
              <a:t>proprietário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chef </a:t>
            </a:r>
            <a:r>
              <a:rPr dirty="0" err="1"/>
              <a:t>assinar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hora.</a:t>
            </a:r>
          </a:p>
          <a:p>
            <a:br>
              <a:rPr dirty="0"/>
            </a:br>
            <a:r>
              <a:rPr dirty="0"/>
              <a:t>✔ 📊 Histórico &amp; Dashboard de </a:t>
            </a:r>
            <a:r>
              <a:rPr dirty="0" err="1"/>
              <a:t>Conformidade</a:t>
            </a:r>
            <a:endParaRPr dirty="0"/>
          </a:p>
          <a:p>
            <a:pPr>
              <a:defRPr sz="1200">
                <a:solidFill>
                  <a:srgbClr val="64748B"/>
                </a:solidFill>
              </a:defRPr>
            </a:pPr>
            <a:r>
              <a:rPr dirty="0"/>
              <a:t>   </a:t>
            </a:r>
            <a:r>
              <a:rPr dirty="0" err="1"/>
              <a:t>Acompanhamento</a:t>
            </a:r>
            <a:r>
              <a:rPr dirty="0"/>
              <a:t> da </a:t>
            </a:r>
            <a:r>
              <a:rPr dirty="0" err="1"/>
              <a:t>evolução</a:t>
            </a:r>
            <a:r>
              <a:rPr dirty="0"/>
              <a:t> </a:t>
            </a:r>
            <a:r>
              <a:rPr dirty="0" err="1"/>
              <a:t>sanitária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longo</a:t>
            </a:r>
            <a:r>
              <a:rPr dirty="0"/>
              <a:t> das </a:t>
            </a:r>
            <a:r>
              <a:rPr dirty="0" err="1"/>
              <a:t>semanas</a:t>
            </a:r>
            <a:r>
              <a:rPr dirty="0"/>
              <a:t>, </a:t>
            </a:r>
            <a:r>
              <a:rPr dirty="0" err="1"/>
              <a:t>prevenindo</a:t>
            </a:r>
            <a:r>
              <a:rPr dirty="0"/>
              <a:t> </a:t>
            </a:r>
            <a:r>
              <a:rPr dirty="0" err="1"/>
              <a:t>multas</a:t>
            </a:r>
            <a:r>
              <a:rPr dirty="0"/>
              <a:t> e </a:t>
            </a:r>
            <a:r>
              <a:rPr dirty="0" err="1"/>
              <a:t>interdições</a:t>
            </a:r>
            <a:r>
              <a:rPr dirty="0"/>
              <a:t> da </a:t>
            </a:r>
            <a:r>
              <a:rPr dirty="0" err="1"/>
              <a:t>Vigilância</a:t>
            </a:r>
            <a:r>
              <a:rPr dirty="0"/>
              <a:t> </a:t>
            </a:r>
            <a:r>
              <a:rPr dirty="0" err="1"/>
              <a:t>Sanitária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805</Words>
  <Application>Microsoft Office PowerPoint</Application>
  <PresentationFormat>Widescreen</PresentationFormat>
  <Paragraphs>54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RAFAEL TAMARIBUTI</cp:lastModifiedBy>
  <cp:revision>3</cp:revision>
  <dcterms:created xsi:type="dcterms:W3CDTF">2013-01-27T09:14:16Z</dcterms:created>
  <dcterms:modified xsi:type="dcterms:W3CDTF">2026-09-14T15:23:15Z</dcterms:modified>
  <cp:category/>
</cp:coreProperties>
</file>